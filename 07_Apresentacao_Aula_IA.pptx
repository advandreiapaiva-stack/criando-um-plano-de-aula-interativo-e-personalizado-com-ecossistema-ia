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3"/>
  </p:notesMasterIdLst>
  <p:sldIdLst>
    <p:sldId id="265" r:id="rId2"/>
    <p:sldId id="256" r:id="rId3"/>
    <p:sldId id="268" r:id="rId4"/>
    <p:sldId id="258" r:id="rId5"/>
    <p:sldId id="264" r:id="rId6"/>
    <p:sldId id="259" r:id="rId7"/>
    <p:sldId id="260" r:id="rId8"/>
    <p:sldId id="261" r:id="rId9"/>
    <p:sldId id="266" r:id="rId10"/>
    <p:sldId id="267" r:id="rId11"/>
    <p:sldId id="262" r:id="rId12"/>
  </p:sldIdLst>
  <p:sldSz cx="9144000" cy="5143500" type="screen16x9"/>
  <p:notesSz cx="6858000" cy="9144000"/>
  <p:embeddedFontLst>
    <p:embeddedFont>
      <p:font typeface="Nunito" panose="020B0604020202020204" charset="0"/>
      <p:regular r:id="rId14"/>
      <p:bold r:id="rId15"/>
      <p:italic r:id="rId16"/>
      <p:boldItalic r:id="rId17"/>
    </p:embeddedFont>
    <p:embeddedFont>
      <p:font typeface="Manrope" panose="020B060402020202020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b32e825ba5_0_13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32e825ba5_0_165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32e825ba5_0_195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32e825ba5_0_225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32e825ba5_0_336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32e825ba5_0_362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Slide 1_1_1_TITLEANDBULLETS_B">
  <p:cSld name="TITLE_AND_BODY_2_1_2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>
            <a:spLocks noGrp="1"/>
          </p:cNvSpPr>
          <p:nvPr>
            <p:ph type="pic" idx="2"/>
          </p:nvPr>
        </p:nvSpPr>
        <p:spPr>
          <a:xfrm>
            <a:off x="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5427950" y="289525"/>
            <a:ext cx="3405900" cy="10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5427950" y="1565672"/>
            <a:ext cx="3405900" cy="328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Slide 1_1_1_TITLEANDBULLETS_D">
  <p:cSld name="TITLE_AND_BODY_2_1_1_1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>
            <a:spLocks noGrp="1"/>
          </p:cNvSpPr>
          <p:nvPr>
            <p:ph type="pic" idx="2"/>
          </p:nvPr>
        </p:nvSpPr>
        <p:spPr>
          <a:xfrm>
            <a:off x="296299" y="316350"/>
            <a:ext cx="4510800" cy="45108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5151925" y="289525"/>
            <a:ext cx="3548100" cy="10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5151925" y="1565671"/>
            <a:ext cx="3548100" cy="328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Slide 1_1_1_TITLEANDBULLETS_E">
  <p:cSld name="TITLE_AND_BODY_2_1_1_1_1_1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145700" y="226400"/>
            <a:ext cx="3651900" cy="109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145700" y="1598500"/>
            <a:ext cx="3651900" cy="3318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>
            <a:spLocks noGrp="1"/>
          </p:cNvSpPr>
          <p:nvPr>
            <p:ph type="pic" idx="2"/>
          </p:nvPr>
        </p:nvSpPr>
        <p:spPr>
          <a:xfrm>
            <a:off x="204047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Slide 1_1_1_TITLEANDBULLETS_F">
  <p:cSld name="TITLE_AND_BODY_2_1_1_1_1_1_1_1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50350" y="226400"/>
            <a:ext cx="3505500" cy="109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50350" y="1598500"/>
            <a:ext cx="3505500" cy="3318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>
            <a:spLocks noGrp="1"/>
          </p:cNvSpPr>
          <p:nvPr>
            <p:ph type="pic" idx="2"/>
          </p:nvPr>
        </p:nvSpPr>
        <p:spPr>
          <a:xfrm>
            <a:off x="4101622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Quarterly business review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b" anchorCtr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84700" y="1782325"/>
            <a:ext cx="4287300" cy="29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283475" y="420225"/>
            <a:ext cx="73233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00">
          <p15:clr>
            <a:schemeClr val="accent3"/>
          </p15:clr>
        </p15:guide>
        <p15:guide id="2" orient="horz" pos="300">
          <p15:clr>
            <a:schemeClr val="accent3"/>
          </p15:clr>
        </p15:guide>
        <p15:guide id="3" orient="horz" pos="899">
          <p15:clr>
            <a:schemeClr val="accent3"/>
          </p15:clr>
        </p15:guide>
        <p15:guide id="4" pos="1561">
          <p15:clr>
            <a:schemeClr val="accent3"/>
          </p15:clr>
        </p15:guide>
        <p15:guide id="5" pos="1619">
          <p15:clr>
            <a:schemeClr val="accent3"/>
          </p15:clr>
        </p15:guide>
        <p15:guide id="6" orient="horz" pos="962">
          <p15:clr>
            <a:schemeClr val="accent3"/>
          </p15:clr>
        </p15:guide>
        <p15:guide id="7" orient="horz" pos="1561">
          <p15:clr>
            <a:schemeClr val="accent3"/>
          </p15:clr>
        </p15:guide>
        <p15:guide id="8" orient="horz" pos="1619">
          <p15:clr>
            <a:schemeClr val="accent3"/>
          </p15:clr>
        </p15:guide>
        <p15:guide id="9" orient="horz" pos="2281">
          <p15:clr>
            <a:schemeClr val="accent3"/>
          </p15:clr>
        </p15:guide>
        <p15:guide id="10" orient="horz" pos="2339">
          <p15:clr>
            <a:schemeClr val="accent3"/>
          </p15:clr>
        </p15:guide>
        <p15:guide id="11" orient="horz" pos="2943">
          <p15:clr>
            <a:schemeClr val="accent3"/>
          </p15:clr>
        </p15:guide>
        <p15:guide id="12" pos="1981">
          <p15:clr>
            <a:schemeClr val="accent5"/>
          </p15:clr>
        </p15:guide>
        <p15:guide id="13" pos="2039">
          <p15:clr>
            <a:schemeClr val="accent5"/>
          </p15:clr>
        </p15:guide>
        <p15:guide id="14" pos="2880">
          <p15:clr>
            <a:schemeClr val="accent3"/>
          </p15:clr>
        </p15:guide>
        <p15:guide id="15" pos="2938">
          <p15:clr>
            <a:schemeClr val="accent3"/>
          </p15:clr>
        </p15:guide>
        <p15:guide id="16" pos="3721">
          <p15:clr>
            <a:schemeClr val="accent5"/>
          </p15:clr>
        </p15:guide>
        <p15:guide id="17" pos="3779">
          <p15:clr>
            <a:schemeClr val="accent5"/>
          </p15:clr>
        </p15:guide>
        <p15:guide id="18" pos="4141">
          <p15:clr>
            <a:schemeClr val="accent3"/>
          </p15:clr>
        </p15:guide>
        <p15:guide id="19" pos="4199">
          <p15:clr>
            <a:schemeClr val="accent3"/>
          </p15:clr>
        </p15:guide>
        <p15:guide id="20" pos="5460">
          <p15:clr>
            <a:schemeClr val="accent3"/>
          </p15:clr>
        </p15:guide>
        <p15:guide id="21" pos="179">
          <p15:clr>
            <a:schemeClr val="accent1"/>
          </p15:clr>
        </p15:guide>
        <p15:guide id="22" pos="5581">
          <p15:clr>
            <a:schemeClr val="accent1"/>
          </p15:clr>
        </p15:guide>
        <p15:guide id="23" orient="horz" pos="179">
          <p15:clr>
            <a:schemeClr val="accent1"/>
          </p15:clr>
        </p15:guide>
        <p15:guide id="24" orient="horz" pos="3059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12064" b="12064"/>
          <a:stretch>
            <a:fillRect/>
          </a:stretch>
        </p:blipFill>
        <p:spPr>
          <a:xfrm>
            <a:off x="659921" y="751718"/>
            <a:ext cx="3408805" cy="3853066"/>
          </a:xfrm>
          <a:prstGeom prst="rect">
            <a:avLst/>
          </a:prstGeom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882146" y="751718"/>
            <a:ext cx="3405900" cy="1093500"/>
          </a:xfrm>
        </p:spPr>
        <p:txBody>
          <a:bodyPr/>
          <a:lstStyle/>
          <a:p>
            <a:r>
              <a:rPr lang="pt-BR" dirty="0"/>
              <a:t>Boas-vindas e conversa inicial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1"/>
          </p:nvPr>
        </p:nvSpPr>
        <p:spPr>
          <a:xfrm>
            <a:off x="4648229" y="2487161"/>
            <a:ext cx="3405900" cy="2049398"/>
          </a:xfrm>
        </p:spPr>
        <p:txBody>
          <a:bodyPr/>
          <a:lstStyle/>
          <a:p>
            <a:r>
              <a:rPr lang="pt-BR" dirty="0"/>
              <a:t>Vamos acolher a turma, conversar sobre a natureza e descobrir o que já sabemos sobre quem </a:t>
            </a:r>
            <a:r>
              <a:rPr lang="pt-BR" dirty="0" smtClean="0"/>
              <a:t>se alimenta de quem </a:t>
            </a:r>
            <a:r>
              <a:rPr lang="pt-BR" dirty="0"/>
              <a:t>no meio ambiente</a:t>
            </a:r>
            <a:r>
              <a:rPr lang="pt-BR" dirty="0" smtClean="0"/>
              <a:t>.</a:t>
            </a:r>
          </a:p>
          <a:p>
            <a:r>
              <a:rPr lang="pt-BR" dirty="0"/>
              <a:t>Bate-papo interativo para entender, de forma simples e com exemplos do dia a dia, o que são produtores, consumidores e decompositores.</a:t>
            </a:r>
          </a:p>
        </p:txBody>
      </p:sp>
    </p:spTree>
    <p:extLst>
      <p:ext uri="{BB962C8B-B14F-4D97-AF65-F5344CB8AC3E}">
        <p14:creationId xmlns:p14="http://schemas.microsoft.com/office/powerpoint/2010/main" val="3064470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5087709" y="688265"/>
            <a:ext cx="3405900" cy="10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Plano de Aula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5087709" y="1884649"/>
            <a:ext cx="3405900" cy="190763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lvl="0"/>
            <a:r>
              <a:rPr lang="pt-BR" dirty="0" smtClean="0"/>
              <a:t>Cadeias </a:t>
            </a:r>
            <a:r>
              <a:rPr lang="pt-BR" dirty="0"/>
              <a:t>Alimentares e Representações </a:t>
            </a:r>
            <a:r>
              <a:rPr lang="pt-BR" dirty="0" smtClean="0"/>
              <a:t>Visuais</a:t>
            </a:r>
          </a:p>
          <a:p>
            <a:pPr lvl="0"/>
            <a:r>
              <a:rPr lang="pt-BR" dirty="0" smtClean="0"/>
              <a:t>Disciplina </a:t>
            </a:r>
            <a:r>
              <a:rPr lang="pt-BR" dirty="0"/>
              <a:t>de Gerenciamento de Projetos no </a:t>
            </a:r>
            <a:r>
              <a:rPr lang="pt-BR" dirty="0" smtClean="0"/>
              <a:t>8º Período Fundamental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dirty="0"/>
              <a:t>Carga horária da aula: 50 minutos para </a:t>
            </a:r>
            <a:r>
              <a:rPr lang="pt-BR" dirty="0" smtClean="0"/>
              <a:t>25 </a:t>
            </a:r>
            <a:r>
              <a:rPr lang="pt-BR" dirty="0"/>
              <a:t>estudantes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dirty="0" smtClean="0"/>
              <a:t>Ciências</a:t>
            </a:r>
            <a:endParaRPr dirty="0"/>
          </a:p>
        </p:txBody>
      </p:sp>
      <p:pic>
        <p:nvPicPr>
          <p:cNvPr id="5" name="Espaço Reservado para Imagem 4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46" b="46"/>
          <a:stretch>
            <a:fillRect/>
          </a:stretch>
        </p:blipFill>
        <p:spPr>
          <a:xfrm>
            <a:off x="545805" y="688265"/>
            <a:ext cx="3834809" cy="38314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336" r="336"/>
          <a:stretch>
            <a:fillRect/>
          </a:stretch>
        </p:blipFill>
        <p:spPr>
          <a:xfrm>
            <a:off x="659773" y="712927"/>
            <a:ext cx="3316804" cy="3530646"/>
          </a:xfrm>
          <a:prstGeom prst="rect">
            <a:avLst/>
          </a:prstGeom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712025" y="712927"/>
            <a:ext cx="3405900" cy="1093500"/>
          </a:xfrm>
        </p:spPr>
        <p:txBody>
          <a:bodyPr>
            <a:normAutofit/>
          </a:bodyPr>
          <a:lstStyle/>
          <a:p>
            <a:r>
              <a:rPr lang="pt-BR" dirty="0" smtClean="0"/>
              <a:t>Objetivo da Aula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1"/>
          </p:nvPr>
        </p:nvSpPr>
        <p:spPr>
          <a:xfrm>
            <a:off x="4534816" y="2109115"/>
            <a:ext cx="3405900" cy="1985602"/>
          </a:xfrm>
        </p:spPr>
        <p:txBody>
          <a:bodyPr/>
          <a:lstStyle/>
          <a:p>
            <a:r>
              <a:rPr lang="pt-BR" dirty="0"/>
              <a:t>Identificar os principais elementos de uma cadeia alimentar</a:t>
            </a:r>
            <a:r>
              <a:rPr lang="pt-BR" dirty="0" smtClean="0"/>
              <a:t>.</a:t>
            </a:r>
          </a:p>
          <a:p>
            <a:r>
              <a:rPr lang="pt-BR" dirty="0"/>
              <a:t>Representar visualmente uma cadeia alimentar simples.</a:t>
            </a:r>
          </a:p>
          <a:p>
            <a:r>
              <a:rPr lang="pt-BR" dirty="0"/>
              <a:t>Reconhecer a importância do equilíbrio entre os seres vivos</a:t>
            </a:r>
            <a:r>
              <a:rPr lang="pt-BR" dirty="0" smtClean="0"/>
              <a:t>.</a:t>
            </a:r>
          </a:p>
          <a:p>
            <a:r>
              <a:rPr lang="pt-BR" dirty="0"/>
              <a:t>Explicar o papel de cada ser vivo na cadeia alimentar.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0597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4967627" y="673769"/>
            <a:ext cx="3548100" cy="10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lvl="0"/>
            <a:r>
              <a:rPr lang="pt-BR" dirty="0"/>
              <a:t>O que é uma Cadeia Alimentar?</a:t>
            </a:r>
            <a:endParaRPr dirty="0"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1"/>
          </p:nvPr>
        </p:nvSpPr>
        <p:spPr>
          <a:xfrm>
            <a:off x="4967627" y="1971498"/>
            <a:ext cx="3548100" cy="2205343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dirty="0"/>
              <a:t>Explicar o conceito e a finalidade da </a:t>
            </a:r>
            <a:r>
              <a:rPr lang="pt-BR" dirty="0" smtClean="0"/>
              <a:t>Cadeia Alimentar.</a:t>
            </a:r>
            <a:endParaRPr dirty="0"/>
          </a:p>
          <a:p>
            <a:pPr lvl="0"/>
            <a:r>
              <a:rPr lang="pt-BR" dirty="0" smtClean="0"/>
              <a:t>Sequência </a:t>
            </a:r>
            <a:r>
              <a:rPr lang="pt-BR" dirty="0"/>
              <a:t>de seres vivos onde cada um serve de alimento para o próximo.</a:t>
            </a:r>
          </a:p>
          <a:p>
            <a:pPr lvl="0"/>
            <a:r>
              <a:rPr lang="pt-BR" dirty="0" smtClean="0"/>
              <a:t>Inclui </a:t>
            </a:r>
            <a:r>
              <a:rPr lang="pt-BR" dirty="0"/>
              <a:t>produtores, consumidores e decompositores.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dirty="0" smtClean="0"/>
              <a:t>Utilizar </a:t>
            </a:r>
            <a:r>
              <a:rPr lang="pt-BR" dirty="0"/>
              <a:t>ferramentas digitais e Inteligência Artificial para apoiar a EAP</a:t>
            </a:r>
            <a:endParaRPr dirty="0"/>
          </a:p>
        </p:txBody>
      </p:sp>
      <p:sp>
        <p:nvSpPr>
          <p:cNvPr id="2" name="Espaço Reservado para Imagem 1"/>
          <p:cNvSpPr>
            <a:spLocks noGrp="1"/>
          </p:cNvSpPr>
          <p:nvPr>
            <p:ph type="pic" idx="2"/>
          </p:nvPr>
        </p:nvSpPr>
        <p:spPr>
          <a:xfrm>
            <a:off x="878481" y="966659"/>
            <a:ext cx="3346436" cy="3210182"/>
          </a:xfrm>
          <a:prstGeom prst="roundRect">
            <a:avLst>
              <a:gd name="adj" fmla="val 48429"/>
            </a:avLst>
          </a:prstGeom>
        </p:spPr>
      </p:sp>
      <p:pic>
        <p:nvPicPr>
          <p:cNvPr id="6" name="Espaço Reservado para Imagem 10"/>
          <p:cNvPicPr>
            <a:picLocks noChangeAspect="1"/>
          </p:cNvPicPr>
          <p:nvPr/>
        </p:nvPicPr>
        <p:blipFill>
          <a:blip r:embed="rId3"/>
          <a:srcRect t="1063" b="1063"/>
          <a:stretch>
            <a:fillRect/>
          </a:stretch>
        </p:blipFill>
        <p:spPr>
          <a:xfrm>
            <a:off x="701271" y="673769"/>
            <a:ext cx="3806933" cy="3651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4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16427" b="16427"/>
          <a:stretch>
            <a:fillRect/>
          </a:stretch>
        </p:blipFill>
        <p:spPr>
          <a:xfrm>
            <a:off x="296299" y="700304"/>
            <a:ext cx="4126845" cy="4126845"/>
          </a:xfrm>
          <a:prstGeom prst="rect">
            <a:avLst/>
          </a:prstGeom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5003070" y="700304"/>
            <a:ext cx="3548100" cy="1093500"/>
          </a:xfrm>
        </p:spPr>
        <p:txBody>
          <a:bodyPr/>
          <a:lstStyle/>
          <a:p>
            <a:r>
              <a:rPr lang="pt-BR" dirty="0"/>
              <a:t>Fluxo de Energia nos Ecossistemas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1"/>
          </p:nvPr>
        </p:nvSpPr>
        <p:spPr>
          <a:xfrm>
            <a:off x="5003070" y="2516371"/>
            <a:ext cx="3548100" cy="1990269"/>
          </a:xfrm>
        </p:spPr>
        <p:txBody>
          <a:bodyPr/>
          <a:lstStyle/>
          <a:p>
            <a:r>
              <a:rPr lang="pt-BR" dirty="0" smtClean="0"/>
              <a:t>Energia </a:t>
            </a:r>
            <a:r>
              <a:rPr lang="pt-BR" dirty="0"/>
              <a:t>passa dos produtores para consumidores e decompositores.</a:t>
            </a:r>
          </a:p>
          <a:p>
            <a:r>
              <a:rPr lang="pt-BR" dirty="0" smtClean="0"/>
              <a:t>Importância </a:t>
            </a:r>
            <a:r>
              <a:rPr lang="pt-BR" dirty="0"/>
              <a:t>do equilíbrio para a sustentabilidade do ecossistema.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0581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title"/>
          </p:nvPr>
        </p:nvSpPr>
        <p:spPr>
          <a:xfrm>
            <a:off x="4762928" y="591726"/>
            <a:ext cx="3651900" cy="1094400"/>
          </a:xfrm>
        </p:spPr>
        <p:txBody>
          <a:bodyPr/>
          <a:lstStyle/>
          <a:p>
            <a:pPr lvl="0"/>
            <a:r>
              <a:rPr lang="pt-BR" dirty="0" smtClean="0"/>
              <a:t>Representações Visuais</a:t>
            </a:r>
            <a:endParaRPr lang="pt-BR" dirty="0"/>
          </a:p>
        </p:txBody>
      </p:sp>
      <p:sp>
        <p:nvSpPr>
          <p:cNvPr id="65" name="Google Shape;65;p11"/>
          <p:cNvSpPr txBox="1">
            <a:spLocks noGrp="1"/>
          </p:cNvSpPr>
          <p:nvPr>
            <p:ph type="body" idx="1"/>
          </p:nvPr>
        </p:nvSpPr>
        <p:spPr>
          <a:xfrm>
            <a:off x="4592807" y="1882035"/>
            <a:ext cx="3651900" cy="3318600"/>
          </a:xfrm>
        </p:spPr>
        <p:txBody>
          <a:bodyPr/>
          <a:lstStyle/>
          <a:p>
            <a:pPr lvl="0"/>
            <a:r>
              <a:rPr lang="pt-BR" dirty="0" smtClean="0"/>
              <a:t>Diagramas e esquemas para facilitar a compreensão.</a:t>
            </a:r>
          </a:p>
          <a:p>
            <a:pPr lvl="0"/>
            <a:r>
              <a:rPr lang="pt-BR" dirty="0" smtClean="0"/>
              <a:t>Uso de setas para indicar o fluxo de energia.</a:t>
            </a:r>
            <a:endParaRPr lang="pt-BR" dirty="0"/>
          </a:p>
        </p:txBody>
      </p:sp>
      <p:pic>
        <p:nvPicPr>
          <p:cNvPr id="9" name="Espaço Reservado para Imagem 8"/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7" b="16667"/>
          <a:stretch>
            <a:fillRect/>
          </a:stretch>
        </p:blipFill>
        <p:spPr>
          <a:xfrm>
            <a:off x="204047" y="591726"/>
            <a:ext cx="4325423" cy="4325423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>
            <a:spLocks noGrp="1"/>
          </p:cNvSpPr>
          <p:nvPr>
            <p:ph type="title"/>
          </p:nvPr>
        </p:nvSpPr>
        <p:spPr>
          <a:xfrm>
            <a:off x="4652992" y="581247"/>
            <a:ext cx="3505500" cy="109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Recursos Didáticos</a:t>
            </a:r>
            <a:endParaRPr dirty="0"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1"/>
          </p:nvPr>
        </p:nvSpPr>
        <p:spPr>
          <a:xfrm>
            <a:off x="4589197" y="1215777"/>
            <a:ext cx="3505500" cy="3318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lvl="0"/>
            <a:r>
              <a:rPr lang="pt-BR" dirty="0"/>
              <a:t>Quadro branco e marcadores</a:t>
            </a:r>
            <a:r>
              <a:rPr lang="pt-BR" dirty="0" smtClean="0"/>
              <a:t>;</a:t>
            </a:r>
          </a:p>
          <a:p>
            <a:pPr lvl="0"/>
            <a:r>
              <a:rPr lang="pt-BR" dirty="0" smtClean="0"/>
              <a:t>Computador </a:t>
            </a:r>
            <a:r>
              <a:rPr lang="pt-BR" dirty="0"/>
              <a:t>ou notebook</a:t>
            </a:r>
            <a:r>
              <a:rPr lang="pt-BR" dirty="0" smtClean="0"/>
              <a:t>;</a:t>
            </a:r>
          </a:p>
          <a:p>
            <a:pPr lvl="0"/>
            <a:r>
              <a:rPr lang="pt-BR" dirty="0" smtClean="0"/>
              <a:t>Slides </a:t>
            </a:r>
            <a:r>
              <a:rPr lang="pt-BR" dirty="0"/>
              <a:t>digitais (apresentação em PowerPoint, Google Slides ou similar</a:t>
            </a:r>
            <a:r>
              <a:rPr lang="pt-BR" dirty="0" smtClean="0"/>
              <a:t>);</a:t>
            </a:r>
          </a:p>
          <a:p>
            <a:pPr lvl="0"/>
            <a:r>
              <a:rPr lang="pt-BR" dirty="0" smtClean="0"/>
              <a:t>Ferramenta </a:t>
            </a:r>
            <a:r>
              <a:rPr lang="pt-BR" dirty="0"/>
              <a:t>de Inteligência Artificial (IA) para apoio didático (ex.: geração de exemplos, imagens ou explicações sobre a cadeia alimentar</a:t>
            </a:r>
            <a:r>
              <a:rPr lang="pt-BR" dirty="0" smtClean="0"/>
              <a:t>);</a:t>
            </a:r>
          </a:p>
          <a:p>
            <a:pPr lvl="0"/>
            <a:r>
              <a:rPr lang="pt-BR" dirty="0" smtClean="0"/>
              <a:t>Projetor </a:t>
            </a:r>
            <a:r>
              <a:rPr lang="pt-BR" dirty="0"/>
              <a:t>multimídia ou TV</a:t>
            </a:r>
            <a:r>
              <a:rPr lang="pt-BR" dirty="0" smtClean="0"/>
              <a:t>;</a:t>
            </a:r>
          </a:p>
          <a:p>
            <a:pPr lvl="0"/>
            <a:r>
              <a:rPr lang="pt-BR" dirty="0" smtClean="0"/>
              <a:t>Vídeo </a:t>
            </a:r>
            <a:r>
              <a:rPr lang="pt-BR" dirty="0"/>
              <a:t>educativo curto sobre cadeia alimentar</a:t>
            </a:r>
            <a:r>
              <a:rPr lang="pt-BR" dirty="0" smtClean="0"/>
              <a:t>;</a:t>
            </a:r>
          </a:p>
          <a:p>
            <a:pPr lvl="0"/>
            <a:r>
              <a:rPr lang="pt-BR" dirty="0" smtClean="0"/>
              <a:t>Imagens </a:t>
            </a:r>
            <a:r>
              <a:rPr lang="pt-BR" dirty="0"/>
              <a:t>ilustrativas da </a:t>
            </a:r>
            <a:r>
              <a:rPr lang="pt-BR" dirty="0" smtClean="0"/>
              <a:t>cadeia</a:t>
            </a:r>
            <a:endParaRPr dirty="0"/>
          </a:p>
        </p:txBody>
      </p:sp>
      <p:pic>
        <p:nvPicPr>
          <p:cNvPr id="3" name="Espaço Reservado para Imagem 2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16450" b="16450"/>
          <a:stretch>
            <a:fillRect/>
          </a:stretch>
        </p:blipFill>
        <p:spPr>
          <a:xfrm>
            <a:off x="198475" y="581247"/>
            <a:ext cx="3953130" cy="39531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5151925" y="289525"/>
            <a:ext cx="3548100" cy="10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lvl="0"/>
            <a:r>
              <a:rPr lang="pt-BR" dirty="0"/>
              <a:t>Organização do tempo da aula (50 minutos)</a:t>
            </a:r>
            <a:endParaRPr dirty="0"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1"/>
          </p:nvPr>
        </p:nvSpPr>
        <p:spPr>
          <a:xfrm>
            <a:off x="5151925" y="1565671"/>
            <a:ext cx="3548100" cy="328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85000" lnSpcReduction="20000"/>
          </a:bodyPr>
          <a:lstStyle/>
          <a:p>
            <a:pPr lvl="0"/>
            <a:r>
              <a:rPr lang="pt-BR" dirty="0"/>
              <a:t>5 minutos – Acolhimento e contextualização do tema, com conversa inicial sobre a cadeia alimentar</a:t>
            </a:r>
            <a:r>
              <a:rPr lang="pt-BR" dirty="0" smtClean="0"/>
              <a:t>.</a:t>
            </a:r>
          </a:p>
          <a:p>
            <a:pPr lvl="0"/>
            <a:r>
              <a:rPr lang="pt-BR" dirty="0" smtClean="0"/>
              <a:t>15 </a:t>
            </a:r>
            <a:r>
              <a:rPr lang="pt-BR" dirty="0"/>
              <a:t>minutos – Exposição do conteúdo por meio de slides, com explicação dos conceitos de cadeia alimentar, produtores, consumidores e decompositores</a:t>
            </a:r>
            <a:r>
              <a:rPr lang="pt-BR" dirty="0" smtClean="0"/>
              <a:t>.</a:t>
            </a:r>
          </a:p>
          <a:p>
            <a:pPr lvl="0"/>
            <a:r>
              <a:rPr lang="pt-BR" dirty="0" smtClean="0"/>
              <a:t>10 </a:t>
            </a:r>
            <a:r>
              <a:rPr lang="pt-BR" dirty="0"/>
              <a:t>minutos – Uso da Inteligência Artificial como recurso didático, com exemplos visuais e interação com os alunos</a:t>
            </a:r>
            <a:r>
              <a:rPr lang="pt-BR" dirty="0" smtClean="0"/>
              <a:t>.</a:t>
            </a:r>
          </a:p>
          <a:p>
            <a:pPr lvl="0"/>
            <a:r>
              <a:rPr lang="pt-BR" dirty="0" smtClean="0"/>
              <a:t>15 </a:t>
            </a:r>
            <a:r>
              <a:rPr lang="pt-BR" dirty="0"/>
              <a:t>minutos – Atividade prática em grupo, na qual os alunos irão elaborar uma cadeia alimentar, aplicando os conhecimentos trabalhados</a:t>
            </a:r>
            <a:r>
              <a:rPr lang="pt-BR" dirty="0" smtClean="0"/>
              <a:t>.</a:t>
            </a:r>
          </a:p>
          <a:p>
            <a:pPr lvl="0"/>
            <a:r>
              <a:rPr lang="pt-BR" dirty="0" smtClean="0"/>
              <a:t>5 </a:t>
            </a:r>
            <a:r>
              <a:rPr lang="pt-BR" dirty="0"/>
              <a:t>minutos – Socialização dos trabalhos, discussão dos resultados e fechamento da aula com retomada dos principais aprendizados.</a:t>
            </a:r>
            <a:endParaRPr dirty="0"/>
          </a:p>
        </p:txBody>
      </p:sp>
      <p:pic>
        <p:nvPicPr>
          <p:cNvPr id="7" name="Espaço Reservado para Imagem 6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747" b="747"/>
          <a:stretch>
            <a:fillRect/>
          </a:stretch>
        </p:blipFill>
        <p:spPr>
          <a:xfrm>
            <a:off x="502426" y="389860"/>
            <a:ext cx="3973305" cy="41677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Imagem 5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17697" b="17697"/>
          <a:stretch>
            <a:fillRect/>
          </a:stretch>
        </p:blipFill>
        <p:spPr>
          <a:xfrm>
            <a:off x="296864" y="670683"/>
            <a:ext cx="3906542" cy="3760029"/>
          </a:xfrm>
          <a:prstGeom prst="rect">
            <a:avLst/>
          </a:prstGeom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634474" y="670683"/>
            <a:ext cx="3548100" cy="1093500"/>
          </a:xfrm>
        </p:spPr>
        <p:txBody>
          <a:bodyPr/>
          <a:lstStyle/>
          <a:p>
            <a:r>
              <a:rPr lang="pt-BR" dirty="0"/>
              <a:t>Diferenciação e Adaptações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idx="1"/>
          </p:nvPr>
        </p:nvSpPr>
        <p:spPr>
          <a:xfrm>
            <a:off x="4492706" y="2331215"/>
            <a:ext cx="3548100" cy="3288300"/>
          </a:xfrm>
        </p:spPr>
        <p:txBody>
          <a:bodyPr/>
          <a:lstStyle/>
          <a:p>
            <a:r>
              <a:rPr lang="pt-BR" dirty="0" smtClean="0"/>
              <a:t>Alunos </a:t>
            </a:r>
            <a:r>
              <a:rPr lang="pt-BR" dirty="0"/>
              <a:t>com dificuldades: cadeias com menos elementos e apoio visual reforçado.</a:t>
            </a:r>
          </a:p>
          <a:p>
            <a:r>
              <a:rPr lang="pt-BR" dirty="0" smtClean="0"/>
              <a:t>Alunos </a:t>
            </a:r>
            <a:r>
              <a:rPr lang="pt-BR" dirty="0"/>
              <a:t>com maior facilidade: desafios com mais níveis e explicação de impactos ambientais.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4293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28295" y="605367"/>
            <a:ext cx="3505500" cy="1094400"/>
          </a:xfrm>
        </p:spPr>
        <p:txBody>
          <a:bodyPr/>
          <a:lstStyle/>
          <a:p>
            <a:r>
              <a:rPr lang="pt-BR" dirty="0"/>
              <a:t>Avaliação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25401" y="1932671"/>
            <a:ext cx="3399399" cy="1328998"/>
          </a:xfrm>
        </p:spPr>
        <p:txBody>
          <a:bodyPr/>
          <a:lstStyle/>
          <a:p>
            <a:r>
              <a:rPr lang="pt-BR" dirty="0" smtClean="0"/>
              <a:t>Compreensão </a:t>
            </a:r>
            <a:r>
              <a:rPr lang="pt-BR" dirty="0"/>
              <a:t>dos conceitos.</a:t>
            </a:r>
          </a:p>
          <a:p>
            <a:r>
              <a:rPr lang="pt-BR" dirty="0" smtClean="0"/>
              <a:t>Representação </a:t>
            </a:r>
            <a:r>
              <a:rPr lang="pt-BR" dirty="0"/>
              <a:t>visual.</a:t>
            </a:r>
          </a:p>
          <a:p>
            <a:r>
              <a:rPr lang="pt-BR" dirty="0" smtClean="0"/>
              <a:t>Participação </a:t>
            </a:r>
            <a:r>
              <a:rPr lang="pt-BR" dirty="0"/>
              <a:t>em grupo.</a:t>
            </a:r>
          </a:p>
          <a:p>
            <a:endParaRPr lang="pt-BR" dirty="0"/>
          </a:p>
        </p:txBody>
      </p:sp>
      <p:pic>
        <p:nvPicPr>
          <p:cNvPr id="10" name="Espaço Reservado para Imagem 9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1021" b="1021"/>
          <a:stretch>
            <a:fillRect/>
          </a:stretch>
        </p:blipFill>
        <p:spPr>
          <a:xfrm>
            <a:off x="458678" y="605367"/>
            <a:ext cx="3695108" cy="387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567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5236564" y="623888"/>
            <a:ext cx="3405900" cy="10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Referências Bibliográficas</a:t>
            </a:r>
            <a:endParaRPr dirty="0"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5066443" y="2182361"/>
            <a:ext cx="3405900" cy="328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lvl="0"/>
            <a:r>
              <a:rPr lang="pt-BR" dirty="0" smtClean="0"/>
              <a:t>BNCC </a:t>
            </a:r>
            <a:r>
              <a:rPr lang="pt-BR" dirty="0"/>
              <a:t>– Base Nacional Comum Curricular.</a:t>
            </a:r>
          </a:p>
          <a:p>
            <a:pPr lvl="0"/>
            <a:r>
              <a:rPr lang="pt-BR" dirty="0" smtClean="0"/>
              <a:t>Livros </a:t>
            </a:r>
            <a:r>
              <a:rPr lang="pt-BR" dirty="0"/>
              <a:t>didáticos de Ciências – 8º ano.</a:t>
            </a:r>
          </a:p>
          <a:p>
            <a:pPr lvl="0"/>
            <a:r>
              <a:rPr lang="pt-BR" dirty="0" smtClean="0"/>
              <a:t>UNESCO </a:t>
            </a:r>
            <a:r>
              <a:rPr lang="pt-BR" dirty="0"/>
              <a:t>– Recomendações sobre ética no uso da IA na educação.</a:t>
            </a:r>
            <a:endParaRPr lang="pt-BR" dirty="0"/>
          </a:p>
        </p:txBody>
      </p:sp>
      <p:pic>
        <p:nvPicPr>
          <p:cNvPr id="4" name="Espaço Reservado para Imagem 3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18154" b="18154"/>
          <a:stretch>
            <a:fillRect/>
          </a:stretch>
        </p:blipFill>
        <p:spPr>
          <a:xfrm>
            <a:off x="503238" y="623888"/>
            <a:ext cx="3827757" cy="36321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Quarterly business review">
  <a:themeElements>
    <a:clrScheme name="Simple Light">
      <a:dk1>
        <a:srgbClr val="131313"/>
      </a:dk1>
      <a:lt1>
        <a:srgbClr val="FAFAFA"/>
      </a:lt1>
      <a:dk2>
        <a:srgbClr val="B5B5B7"/>
      </a:dk2>
      <a:lt2>
        <a:srgbClr val="EAE1E2"/>
      </a:lt2>
      <a:accent1>
        <a:srgbClr val="7D57AE"/>
      </a:accent1>
      <a:accent2>
        <a:srgbClr val="E8C8C7"/>
      </a:accent2>
      <a:accent3>
        <a:srgbClr val="2F5C7C"/>
      </a:accent3>
      <a:accent4>
        <a:srgbClr val="DECEE8"/>
      </a:accent4>
      <a:accent5>
        <a:srgbClr val="B0BFDE"/>
      </a:accent5>
      <a:accent6>
        <a:srgbClr val="DDEAFB"/>
      </a:accent6>
      <a:hlink>
        <a:srgbClr val="2F5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463</Words>
  <Application>Microsoft Office PowerPoint</Application>
  <PresentationFormat>Apresentação na tela (16:9)</PresentationFormat>
  <Paragraphs>51</Paragraphs>
  <Slides>11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Nunito</vt:lpstr>
      <vt:lpstr>Manrope</vt:lpstr>
      <vt:lpstr>Arial</vt:lpstr>
      <vt:lpstr>Quarterly business review</vt:lpstr>
      <vt:lpstr>Boas-vindas e conversa inicial</vt:lpstr>
      <vt:lpstr>Plano de Aula</vt:lpstr>
      <vt:lpstr>Objetivo da Aula</vt:lpstr>
      <vt:lpstr>O que é uma Cadeia Alimentar?</vt:lpstr>
      <vt:lpstr>Fluxo de Energia nos Ecossistemas</vt:lpstr>
      <vt:lpstr>Representações Visuais</vt:lpstr>
      <vt:lpstr>Recursos Didáticos</vt:lpstr>
      <vt:lpstr>Organização do tempo da aula (50 minutos)</vt:lpstr>
      <vt:lpstr>Diferenciação e Adaptações</vt:lpstr>
      <vt:lpstr>Avaliação</vt:lpstr>
      <vt:lpstr>Referências Bibliográficas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Aula</dc:title>
  <dc:creator>Andreia Paiva</dc:creator>
  <cp:lastModifiedBy>Marcelo Thadeu Valota</cp:lastModifiedBy>
  <cp:revision>12</cp:revision>
  <dcterms:modified xsi:type="dcterms:W3CDTF">2026-01-30T16:36:26Z</dcterms:modified>
</cp:coreProperties>
</file>